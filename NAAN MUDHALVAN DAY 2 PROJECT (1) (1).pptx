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693400" cx="7556500"/>
  <p:notesSz cx="7556500" cy="10693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2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2.xml"/><Relationship Id="rId3" Type="http://schemas.openxmlformats.org/officeDocument/2006/relationships/presProps" Target="presProps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n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n"/>
          <p:cNvSpPr txBox="1"/>
          <p:nvPr>
            <p:ph idx="1" type="body"/>
          </p:nvPr>
        </p:nvSpPr>
        <p:spPr>
          <a:xfrm>
            <a:off x="755650" y="5079350"/>
            <a:ext cx="6045300" cy="48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6" name="Google Shape;216;p1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2" name="Google Shape;232;p2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2" name="Google Shape;252;p3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7" name="Google Shape;267;p4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6" name="Google Shape;286;p5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2" name="Google Shape;302;p6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0" name="Google Shape;320;p7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8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6" name="Google Shape;336;p8:notes"/>
          <p:cNvSpPr/>
          <p:nvPr>
            <p:ph idx="2" type="sldImg"/>
          </p:nvPr>
        </p:nvSpPr>
        <p:spPr>
          <a:xfrm>
            <a:off x="1259650" y="802000"/>
            <a:ext cx="5037900" cy="4010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"/>
          <p:cNvSpPr txBox="1"/>
          <p:nvPr>
            <p:ph type="title"/>
          </p:nvPr>
        </p:nvSpPr>
        <p:spPr>
          <a:xfrm>
            <a:off x="1111250" y="1892300"/>
            <a:ext cx="53403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2"/>
          <p:cNvSpPr txBox="1"/>
          <p:nvPr>
            <p:ph idx="1" type="body"/>
          </p:nvPr>
        </p:nvSpPr>
        <p:spPr>
          <a:xfrm>
            <a:off x="1111250" y="1892300"/>
            <a:ext cx="53403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"/>
          <p:cNvSpPr txBox="1"/>
          <p:nvPr>
            <p:ph idx="11" type="ftr"/>
          </p:nvPr>
        </p:nvSpPr>
        <p:spPr>
          <a:xfrm>
            <a:off x="2571750" y="9944100"/>
            <a:ext cx="2419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2"/>
          <p:cNvSpPr txBox="1"/>
          <p:nvPr>
            <p:ph idx="10" type="dt"/>
          </p:nvPr>
        </p:nvSpPr>
        <p:spPr>
          <a:xfrm>
            <a:off x="377825" y="9944100"/>
            <a:ext cx="1740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"/>
          <p:cNvSpPr txBox="1"/>
          <p:nvPr>
            <p:ph idx="12" type="sldNum"/>
          </p:nvPr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"/>
          <p:cNvSpPr txBox="1"/>
          <p:nvPr>
            <p:ph idx="11" type="ftr"/>
          </p:nvPr>
        </p:nvSpPr>
        <p:spPr>
          <a:xfrm>
            <a:off x="2571750" y="9944100"/>
            <a:ext cx="2419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"/>
          <p:cNvSpPr txBox="1"/>
          <p:nvPr>
            <p:ph idx="10" type="dt"/>
          </p:nvPr>
        </p:nvSpPr>
        <p:spPr>
          <a:xfrm>
            <a:off x="377825" y="9944100"/>
            <a:ext cx="1740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"/>
          <p:cNvSpPr txBox="1"/>
          <p:nvPr>
            <p:ph idx="12" type="sldNum"/>
          </p:nvPr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"/>
          <p:cNvSpPr txBox="1"/>
          <p:nvPr>
            <p:ph type="title"/>
          </p:nvPr>
        </p:nvSpPr>
        <p:spPr>
          <a:xfrm>
            <a:off x="1111250" y="1892300"/>
            <a:ext cx="53403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4"/>
          <p:cNvSpPr txBox="1"/>
          <p:nvPr>
            <p:ph idx="11" type="ftr"/>
          </p:nvPr>
        </p:nvSpPr>
        <p:spPr>
          <a:xfrm>
            <a:off x="2571750" y="9944100"/>
            <a:ext cx="2419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4"/>
          <p:cNvSpPr txBox="1"/>
          <p:nvPr>
            <p:ph idx="10" type="dt"/>
          </p:nvPr>
        </p:nvSpPr>
        <p:spPr>
          <a:xfrm>
            <a:off x="377825" y="9944100"/>
            <a:ext cx="1740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"/>
          <p:cNvSpPr txBox="1"/>
          <p:nvPr>
            <p:ph idx="12" type="sldNum"/>
          </p:nvPr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"/>
          <p:cNvSpPr txBox="1"/>
          <p:nvPr>
            <p:ph type="title"/>
          </p:nvPr>
        </p:nvSpPr>
        <p:spPr>
          <a:xfrm>
            <a:off x="1111250" y="1892300"/>
            <a:ext cx="53403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5"/>
          <p:cNvSpPr txBox="1"/>
          <p:nvPr>
            <p:ph idx="1" type="body"/>
          </p:nvPr>
        </p:nvSpPr>
        <p:spPr>
          <a:xfrm>
            <a:off x="378142" y="2459482"/>
            <a:ext cx="3289800" cy="7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"/>
          <p:cNvSpPr txBox="1"/>
          <p:nvPr>
            <p:ph idx="2" type="body"/>
          </p:nvPr>
        </p:nvSpPr>
        <p:spPr>
          <a:xfrm>
            <a:off x="3894867" y="2459482"/>
            <a:ext cx="3289800" cy="7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5"/>
          <p:cNvSpPr txBox="1"/>
          <p:nvPr>
            <p:ph idx="11" type="ftr"/>
          </p:nvPr>
        </p:nvSpPr>
        <p:spPr>
          <a:xfrm>
            <a:off x="2571750" y="9944100"/>
            <a:ext cx="2419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5"/>
          <p:cNvSpPr txBox="1"/>
          <p:nvPr>
            <p:ph idx="10" type="dt"/>
          </p:nvPr>
        </p:nvSpPr>
        <p:spPr>
          <a:xfrm>
            <a:off x="377825" y="9944100"/>
            <a:ext cx="1740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5"/>
          <p:cNvSpPr txBox="1"/>
          <p:nvPr>
            <p:ph idx="12" type="sldNum"/>
          </p:nvPr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 txBox="1"/>
          <p:nvPr>
            <p:ph type="ctrTitle"/>
          </p:nvPr>
        </p:nvSpPr>
        <p:spPr>
          <a:xfrm>
            <a:off x="567213" y="3314954"/>
            <a:ext cx="6428400" cy="22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6"/>
          <p:cNvSpPr txBox="1"/>
          <p:nvPr>
            <p:ph idx="1" type="subTitle"/>
          </p:nvPr>
        </p:nvSpPr>
        <p:spPr>
          <a:xfrm>
            <a:off x="1134427" y="5988304"/>
            <a:ext cx="5294100" cy="26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6"/>
          <p:cNvSpPr txBox="1"/>
          <p:nvPr>
            <p:ph idx="11" type="ftr"/>
          </p:nvPr>
        </p:nvSpPr>
        <p:spPr>
          <a:xfrm>
            <a:off x="2571750" y="9944100"/>
            <a:ext cx="2419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6"/>
          <p:cNvSpPr txBox="1"/>
          <p:nvPr>
            <p:ph idx="10" type="dt"/>
          </p:nvPr>
        </p:nvSpPr>
        <p:spPr>
          <a:xfrm>
            <a:off x="377825" y="9944100"/>
            <a:ext cx="1740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6"/>
          <p:cNvSpPr txBox="1"/>
          <p:nvPr>
            <p:ph idx="12" type="sldNum"/>
          </p:nvPr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"/>
          <p:cNvSpPr txBox="1"/>
          <p:nvPr>
            <p:ph type="title"/>
          </p:nvPr>
        </p:nvSpPr>
        <p:spPr>
          <a:xfrm>
            <a:off x="1111250" y="1892300"/>
            <a:ext cx="53403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2" name="Google Shape;182;p1"/>
          <p:cNvSpPr txBox="1"/>
          <p:nvPr>
            <p:ph idx="1" type="body"/>
          </p:nvPr>
        </p:nvSpPr>
        <p:spPr>
          <a:xfrm>
            <a:off x="1111250" y="1892300"/>
            <a:ext cx="53403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1"/>
          <p:cNvSpPr txBox="1"/>
          <p:nvPr>
            <p:ph idx="11" type="ftr"/>
          </p:nvPr>
        </p:nvSpPr>
        <p:spPr>
          <a:xfrm>
            <a:off x="2571750" y="9944100"/>
            <a:ext cx="24195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1"/>
          <p:cNvSpPr txBox="1"/>
          <p:nvPr>
            <p:ph idx="10" type="dt"/>
          </p:nvPr>
        </p:nvSpPr>
        <p:spPr>
          <a:xfrm>
            <a:off x="377825" y="9944100"/>
            <a:ext cx="1740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5" name="Google Shape;185;p1"/>
          <p:cNvSpPr txBox="1"/>
          <p:nvPr>
            <p:ph idx="12" type="sldNum"/>
          </p:nvPr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"/>
          <p:cNvSpPr txBox="1"/>
          <p:nvPr>
            <p:ph idx="1" type="body"/>
          </p:nvPr>
        </p:nvSpPr>
        <p:spPr>
          <a:xfrm>
            <a:off x="1111250" y="1892300"/>
            <a:ext cx="5340300" cy="3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4800"/>
              <a:buFont typeface="Times New Roman"/>
              <a:buNone/>
            </a:pPr>
            <a:r>
              <a:rPr b="1" i="0" lang="en-US" sz="4800" u="none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373" name="Google Shape;373;p1"/>
          <p:cNvSpPr txBox="1"/>
          <p:nvPr/>
        </p:nvSpPr>
        <p:spPr>
          <a:xfrm>
            <a:off x="1589025" y="7016373"/>
            <a:ext cx="4423800" cy="14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587" lvl="0" marL="1270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8D238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08D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LEADER: </a:t>
            </a:r>
            <a:r>
              <a:rPr b="1" i="0" lang="en-US" sz="16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DHARSHAN ABINESH.R </a:t>
            </a:r>
            <a:r>
              <a:rPr b="1" i="0" lang="en-US" sz="1600" u="none" cap="none" strike="noStrike">
                <a:solidFill>
                  <a:srgbClr val="08D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MEMBER: </a:t>
            </a:r>
            <a:r>
              <a:rPr b="1" i="0" lang="en-US" sz="1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ANANDA KUMAR.R</a:t>
            </a:r>
            <a:r>
              <a:rPr b="1" i="0" lang="en-US" sz="1600" u="none" cap="none" strike="noStrike">
                <a:solidFill>
                  <a:srgbClr val="08D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600" u="none" cap="none" strike="noStrike">
              <a:solidFill>
                <a:srgbClr val="08D2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" lvl="0" marL="1270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8D238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08D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MEMBER: </a:t>
            </a:r>
            <a:r>
              <a:rPr b="1" i="0" lang="en-US" sz="16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BHUVANESH.P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" lvl="0" marL="1270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8D238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08D2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MEMBER: </a:t>
            </a:r>
            <a:r>
              <a:rPr b="1" i="0" lang="en-US" sz="1600" u="none" cap="none" strike="noStrik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AVINASH.S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901700" y="1306512"/>
            <a:ext cx="5759400" cy="3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8035"/>
              </a:buClr>
              <a:buSzPts val="2000"/>
              <a:buFont typeface="Times New Roman"/>
              <a:buNone/>
            </a:pPr>
            <a:r>
              <a:rPr b="1" i="0" lang="en-US" sz="2000" u="sng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INTRODUCTION: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 project  uses  ServiceNow  to  calculate  and  manage family expenses.</a:t>
            </a:r>
            <a:endParaRPr/>
          </a:p>
          <a:p>
            <a:pPr indent="-114300" lvl="0" marL="12700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S Gothic"/>
              <a:buChar char="➢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  allows   users   to   track   daily   spending,   categorize expenses, set budgets, and view reports in real-time. With features like seamless integration, user-friendly interface, and scalability, it supports families of different sizes and financial needs.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S Gothic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27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S Gothic"/>
              <a:buChar char="➢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  system   helps    users   make    informed    financial decisions, stay  organized, and  improve  overall financial well-being within the family.</a:t>
            </a:r>
            <a:endParaRPr/>
          </a:p>
        </p:txBody>
      </p:sp>
      <p:sp>
        <p:nvSpPr>
          <p:cNvPr id="240" name="Google Shape;240;p8"/>
          <p:cNvSpPr txBox="1"/>
          <p:nvPr/>
        </p:nvSpPr>
        <p:spPr>
          <a:xfrm>
            <a:off x="901700" y="5686425"/>
            <a:ext cx="48402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Times New Roman"/>
              <a:buNone/>
            </a:pPr>
            <a:r>
              <a:rPr b="1" i="0" lang="en-US" sz="20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 UP SERVICENOW INSTANCE</a:t>
            </a:r>
            <a:r>
              <a:rPr b="1" i="0" lang="en-US" sz="22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S Gothic"/>
              <a:buNone/>
            </a:pPr>
            <a:r>
              <a:rPr b="0" i="0" lang="en-US" sz="20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✓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	"Setting	Up	ServiceNow	Instance"</a:t>
            </a:r>
            <a:endParaRPr/>
          </a:p>
        </p:txBody>
      </p:sp>
      <p:sp>
        <p:nvSpPr>
          <p:cNvPr id="241" name="Google Shape;241;p8"/>
          <p:cNvSpPr txBox="1"/>
          <p:nvPr/>
        </p:nvSpPr>
        <p:spPr>
          <a:xfrm>
            <a:off x="5870575" y="6156325"/>
            <a:ext cx="7890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</a:t>
            </a:r>
            <a:endParaRPr/>
          </a:p>
        </p:txBody>
      </p:sp>
      <p:sp>
        <p:nvSpPr>
          <p:cNvPr id="242" name="Google Shape;242;p8"/>
          <p:cNvSpPr txBox="1"/>
          <p:nvPr/>
        </p:nvSpPr>
        <p:spPr>
          <a:xfrm>
            <a:off x="1358900" y="6491287"/>
            <a:ext cx="38559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guides	users	to	create	their	own developer instance.</a:t>
            </a:r>
            <a:endParaRPr/>
          </a:p>
        </p:txBody>
      </p:sp>
      <p:sp>
        <p:nvSpPr>
          <p:cNvPr id="243" name="Google Shape;243;p8"/>
          <p:cNvSpPr txBox="1"/>
          <p:nvPr/>
        </p:nvSpPr>
        <p:spPr>
          <a:xfrm>
            <a:off x="5378450" y="6491287"/>
            <a:ext cx="12810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ServiceNow</a:t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1130300" y="7497762"/>
            <a:ext cx="55308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397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S Gothic"/>
              <a:buNone/>
            </a:pPr>
            <a:r>
              <a:rPr b="0" i="0" lang="en-US" sz="20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✓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involves signing up on the ServiceNow Developer site,  requesting  a  personal  instance,  filling  details, and receiving login credentials via email.</a:t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901700" y="1250950"/>
            <a:ext cx="5759400" cy="74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4683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S Gothic"/>
              <a:buNone/>
            </a:pPr>
            <a:r>
              <a:rPr b="0" i="0" lang="en-US" sz="20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✓</a:t>
            </a:r>
            <a:r>
              <a:rPr b="0" i="0" lang="en-US" sz="20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Once  logged  in,  users  can  access  and  navigate ServiceNow For further project development</a:t>
            </a:r>
            <a:endParaRPr/>
          </a:p>
          <a:p>
            <a:pPr indent="-22860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23B0A"/>
              </a:buClr>
              <a:buSzPts val="2000"/>
              <a:buFont typeface="Times New Roman"/>
              <a:buNone/>
            </a:pPr>
            <a:r>
              <a:rPr b="1" i="0" lang="en-US" sz="2000" u="sng">
                <a:solidFill>
                  <a:srgbClr val="823B0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NEW UPDATE SET: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MS Gothic"/>
              <a:buNone/>
            </a:pPr>
            <a:r>
              <a:rPr b="0" i="0" lang="en-US" sz="20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❖</a:t>
            </a: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"Creation  of  New  Update  Set"  module  helps track and manage changes in ServiceNow.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MS Gothic"/>
              <a:buNone/>
            </a:pPr>
            <a:r>
              <a:rPr b="0" i="0" lang="en-US" sz="20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❖</a:t>
            </a: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creating an update set named Family Expenses, users can save customizations, submit, and make it current for project development</a:t>
            </a:r>
            <a:r>
              <a:rPr b="0" i="0" lang="en-US" sz="2000" u="non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0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AF50"/>
              </a:buClr>
              <a:buSzPts val="2400"/>
              <a:buFont typeface="Times New Roman"/>
              <a:buNone/>
            </a:pPr>
            <a:r>
              <a:rPr b="1" i="0" lang="en-US" sz="2400" u="sng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TABLE</a:t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FAMILY EXPENSES TABLE: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just">
              <a:lnSpc>
                <a:spcPct val="110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2600"/>
              <a:buFont typeface="Noto Sans Symbols"/>
              <a:buChar char="∙"/>
            </a:pP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"Creation  of  Family  Expenses Table"  module works by creating a new table in ServiceNow named Family Expenses.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68312" marR="0" rtl="0" algn="just">
              <a:lnSpc>
                <a:spcPct val="111000"/>
              </a:lnSpc>
              <a:spcBef>
                <a:spcPts val="120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Noto Sans Symbols"/>
              <a:buChar char="∙"/>
            </a:pPr>
            <a:r>
              <a:rPr b="0" i="0" lang="en-US" sz="20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 stores  expense  records  systematically,  enabling users to organize, manage, and track family financial data efficiently for better analysis</a:t>
            </a:r>
            <a:r>
              <a:rPr b="0" i="0" lang="en-US" sz="2000" u="non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270" name="Google Shape;270;p10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1143000" y="1736725"/>
            <a:ext cx="177900" cy="179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1143000" y="2811462"/>
            <a:ext cx="177900" cy="179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1143000" y="7566025"/>
            <a:ext cx="203100" cy="20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1143000" y="8472487"/>
            <a:ext cx="203100" cy="20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901700" y="1336675"/>
            <a:ext cx="5760900" cy="76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COLUMNS (FIELDS):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"Creation  of  Columns  (Fields)"  module  works  by  adding specific fields like Number, Date, Amount, and Expense Details to the Family Expenses table.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 fields  store  structured  data,  making  it  easy  to  record, categorize,   and   analyze   expenses,   helping   families   monitor financial activities effectively.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 NUMBER FIELD AN AUTO-NUMBER: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2700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S Gothic"/>
              <a:buChar char="✓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"Making  Number  Field  an Auto-Number"  module works  by  automatically  generating  unique  IDs  for  each expense record.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S Gothic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1270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S Gothic"/>
              <a:buChar char="✓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 ensures  systematic  tracking,  prevents  duplicates,  and simplifies  identifying  entries,  making  data  management and referencing in the Family Expenses table efficient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EE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CONFIGURE THE FORM: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1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"Configure the Form" module works by customizing the Family Expenses form layout in ServiceNow.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lets you drag and drop fields, set Number as read-only, and make Date and Amount mandatory.</a:t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 txBox="1"/>
          <p:nvPr/>
        </p:nvSpPr>
        <p:spPr>
          <a:xfrm>
            <a:off x="1143000" y="1227137"/>
            <a:ext cx="203100" cy="20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901700" y="1233487"/>
            <a:ext cx="5757900" cy="80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68312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ensures proper data entry, validation, and structured record management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45910"/>
              </a:buClr>
              <a:buSzPts val="2000"/>
              <a:buFont typeface="Times New Roman"/>
              <a:buNone/>
            </a:pPr>
            <a:r>
              <a:rPr b="1" i="0" lang="en-US" sz="2000" u="sng">
                <a:solidFill>
                  <a:srgbClr val="C459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TABLE (DAILY EXPENSES)</a:t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6FC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DAILY EXPENSES TABLE: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468312" marR="0" rtl="0" algn="just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"Creation of Daily Expenses Table" module works by building  a  separate  table  to  record  day-to-day  spending details.</a:t>
            </a:r>
            <a:endParaRPr/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None/>
            </a:pPr>
            <a:r>
              <a:t/>
            </a:r>
            <a:endParaRPr b="0" i="0" sz="21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4683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 is  linked  to  the  Family  Expenses  module  for  better tracking.  Users  can  input  daily  expense  records,  save them, and analyze spending patterns, helping in organized financial management.</a:t>
            </a:r>
            <a:endParaRPr/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COLUMNS (FIELDS):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None/>
            </a:pPr>
            <a:r>
              <a:rPr b="0" i="0" lang="en-US" sz="18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❖</a:t>
            </a:r>
            <a:r>
              <a:rPr b="0" i="0" lang="en-US" sz="18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 module  works  by  creating  and  managing  tables  in ServiceNow. You  add  columns  for  details  like  number, date, expenses, family member name, and comments.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None/>
            </a:pPr>
            <a:r>
              <a:rPr b="0" i="0" lang="en-US" sz="18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❖</a:t>
            </a:r>
            <a:r>
              <a:rPr b="0" i="0" lang="en-US" sz="18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 column  is  assigned  a  type  (string,  date,  integer, reference).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None/>
            </a:pPr>
            <a:r>
              <a:rPr b="0" i="0" lang="en-US" sz="18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❖</a:t>
            </a:r>
            <a:r>
              <a:rPr b="0" i="0" lang="en-US" sz="18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 is  used  to  organize,  store,  and  track  daily  expenses systematically for easy reporting and analysis.</a:t>
            </a:r>
            <a:endParaRPr/>
          </a:p>
        </p:txBody>
      </p:sp>
      <p:sp>
        <p:nvSpPr>
          <p:cNvPr id="295" name="Google Shape;295;p11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1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305" name="Google Shape;305;p12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 txBox="1"/>
          <p:nvPr/>
        </p:nvSpPr>
        <p:spPr>
          <a:xfrm>
            <a:off x="901700" y="1336675"/>
            <a:ext cx="5756400" cy="12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MAKING NUMBER FIELD AN AUTO-NUMBER: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0" marR="0" rtl="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auto-number field in a database automatically assigns a unique number to each record.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It's used for creating unique identifiers like IDs.</a:t>
            </a:r>
            <a:endParaRPr/>
          </a:p>
        </p:txBody>
      </p:sp>
      <p:sp>
        <p:nvSpPr>
          <p:cNvPr id="310" name="Google Shape;310;p12"/>
          <p:cNvSpPr txBox="1"/>
          <p:nvPr/>
        </p:nvSpPr>
        <p:spPr>
          <a:xfrm>
            <a:off x="1130300" y="2952750"/>
            <a:ext cx="7509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None/>
            </a:pPr>
            <a:r>
              <a:rPr b="0" i="0" lang="en-US" sz="1800" u="non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o </a:t>
            </a: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Steps</a:t>
            </a:r>
            <a:endParaRPr/>
          </a:p>
        </p:txBody>
      </p:sp>
      <p:sp>
        <p:nvSpPr>
          <p:cNvPr id="311" name="Google Shape;311;p12"/>
          <p:cNvSpPr txBox="1"/>
          <p:nvPr/>
        </p:nvSpPr>
        <p:spPr>
          <a:xfrm>
            <a:off x="2022475" y="2952750"/>
            <a:ext cx="4638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	setting	the	field	to	auto-number	via</a:t>
            </a:r>
            <a:endParaRPr/>
          </a:p>
        </p:txBody>
      </p:sp>
      <p:sp>
        <p:nvSpPr>
          <p:cNvPr id="312" name="Google Shape;312;p12"/>
          <p:cNvSpPr txBox="1"/>
          <p:nvPr/>
        </p:nvSpPr>
        <p:spPr>
          <a:xfrm>
            <a:off x="901700" y="3255962"/>
            <a:ext cx="5757900" cy="6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683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0" i="0" lang="en-US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 view,  using  "Get  Next  Displayed  value"  for dynamic default.</a:t>
            </a:r>
            <a:endParaRPr/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r>
              <a:t/>
            </a:r>
            <a:endParaRPr b="0" i="0" sz="19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FC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CONFIGURE </a:t>
            </a:r>
            <a:r>
              <a:rPr b="1" i="0" lang="en-US" sz="1800" u="none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sng">
                <a:solidFill>
                  <a:srgbClr val="006F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FORM: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468312" marR="0" rtl="0" algn="just">
              <a:lnSpc>
                <a:spcPct val="111000"/>
              </a:lnSpc>
              <a:spcBef>
                <a:spcPts val="80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Char char="➢"/>
            </a:pPr>
            <a:r>
              <a:rPr b="0" i="0" lang="en-US" sz="18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 auto-number  field  assigns  unique  IDs.  To  use  it: configure form, set field to auto-number, and save.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000"/>
              <a:buFont typeface="MS Gothic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4300" lvl="0" marL="4683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Char char="➢"/>
            </a:pPr>
            <a:r>
              <a:rPr b="0" i="0" lang="en-US" sz="18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works by automatically generating sequential numbers for  each  record,  ensuring  unique  identifiers  for  data management and organization purposes efficiently.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2200"/>
              <a:buFont typeface="Times New Roman"/>
              <a:buNone/>
            </a:pPr>
            <a:r>
              <a:rPr b="1" i="0" lang="en-US" sz="2200" u="sng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RELATIONSHIP</a:t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11000"/>
              </a:lnSpc>
              <a:spcBef>
                <a:spcPts val="900"/>
              </a:spcBef>
              <a:spcAft>
                <a:spcPts val="0"/>
              </a:spcAft>
              <a:buClr>
                <a:srgbClr val="528035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RELATIONSHIP BETWEEN FAMILY</a:t>
            </a:r>
            <a:r>
              <a:rPr b="1" i="0" lang="en-US" sz="1800" u="none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sng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EXPENSES AND DAILY EXPENSES TABLES: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468312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MS Gothic"/>
              <a:buChar char="➢"/>
            </a:pPr>
            <a:r>
              <a:rPr b="0" i="0" lang="en-US" sz="16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 a  relationship  between  "Family  Expenses"  and  "Daily Expenses" tables.</a:t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8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468312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MS Gothic"/>
              <a:buChar char="➢"/>
            </a:pPr>
            <a:r>
              <a:rPr b="0" i="0" lang="en-US" sz="16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 by  opening  Relationships,  clicking  New,  entering  details (tables: Family Expenses &amp; Daily Expenses), and saving.</a:t>
            </a:r>
            <a:endParaRPr/>
          </a:p>
        </p:txBody>
      </p:sp>
      <p:sp>
        <p:nvSpPr>
          <p:cNvPr id="313" name="Google Shape;313;p12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3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323" name="Google Shape;323;p13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 txBox="1"/>
          <p:nvPr/>
        </p:nvSpPr>
        <p:spPr>
          <a:xfrm>
            <a:off x="1130300" y="1465262"/>
            <a:ext cx="55230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7012" lvl="0" marL="23971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MS Gothic"/>
              <a:buChar char="➢"/>
            </a:pPr>
            <a:r>
              <a:rPr b="0" i="0" lang="en-US" sz="16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Links tables for data management and analysis of expenses across both tables efficiently.</a:t>
            </a:r>
            <a:endParaRPr/>
          </a:p>
        </p:txBody>
      </p:sp>
      <p:sp>
        <p:nvSpPr>
          <p:cNvPr id="328" name="Google Shape;328;p13"/>
          <p:cNvSpPr txBox="1"/>
          <p:nvPr/>
        </p:nvSpPr>
        <p:spPr>
          <a:xfrm>
            <a:off x="901700" y="2649537"/>
            <a:ext cx="5754600" cy="62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528035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CONFIGURING RELATED LIST ON FAMILY</a:t>
            </a:r>
            <a:r>
              <a:rPr b="1" i="0" lang="en-US" sz="1800" u="none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1800" u="sng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EXPENSES: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➔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  a    relationship   between   tables.   Use   by   opening Relationships,   clicking   New,   selecting   tables   (e.g.,   Family Expenses &amp; Daily Expenses), and saving.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➔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Links  tables  for  data  management  and  analysis  of  expenses across both tables efficiently and effectively now.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8035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CREATION OF BUSINESS RULES: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rgbClr val="0D0D0D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 </a:t>
            </a:r>
            <a:r>
              <a:rPr b="0" i="0" lang="en-US" sz="16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Creates  business  rules  linking  "Family  Expenses"  DB  to "Daily Expenses" table. Use to manage data relations, insert, and update operations efficiently.</a:t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None/>
            </a:pPr>
            <a:r>
              <a:t/>
            </a:r>
            <a:endParaRPr b="0" i="0" sz="17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None/>
            </a:pPr>
            <a:r>
              <a:rPr b="0" i="0" lang="en-US" sz="18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</a:t>
            </a:r>
            <a:r>
              <a:rPr b="0" i="0" lang="en-US" sz="16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Executes  rule  on  current  record  in  Family  Expenses,  adds query, iterates, updates amount, expense details, comments in code snippet</a:t>
            </a:r>
            <a:r>
              <a:rPr b="0" i="0" lang="en-US" sz="1800" u="non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S Gothic"/>
              <a:buNone/>
            </a:pPr>
            <a:r>
              <a:rPr b="0" i="0" lang="en-US" sz="1800" u="none">
                <a:solidFill>
                  <a:srgbClr val="0D0D0D"/>
                </a:solidFill>
                <a:latin typeface="MS Gothic"/>
                <a:ea typeface="MS Gothic"/>
                <a:cs typeface="MS Gothic"/>
                <a:sym typeface="MS Gothic"/>
              </a:rPr>
              <a:t></a:t>
            </a:r>
            <a:r>
              <a:rPr b="0" i="0" lang="en-US" sz="1600" u="non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appears to be a project management or coding interface. It uses guided projects, workspaces, and coding for tasks like managing family expenses</a:t>
            </a:r>
            <a:r>
              <a:rPr b="0" i="0" lang="en-US" sz="1800" u="non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4"/>
          <p:cNvSpPr txBox="1"/>
          <p:nvPr/>
        </p:nvSpPr>
        <p:spPr>
          <a:xfrm>
            <a:off x="1712912" y="455612"/>
            <a:ext cx="41385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F0"/>
              </a:buClr>
              <a:buSzPts val="1200"/>
              <a:buFont typeface="Times New Roman"/>
              <a:buNone/>
            </a:pPr>
            <a:r>
              <a:rPr b="1" i="0" lang="en-US" sz="1200" u="none">
                <a:solidFill>
                  <a:srgbClr val="00AF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CALCULATING FAMILY EXPENSE USING SERVICENOW</a:t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1022350" y="10234612"/>
            <a:ext cx="5518150" cy="0"/>
          </a:xfrm>
          <a:custGeom>
            <a:rect b="b" l="l" r="r" t="t"/>
            <a:pathLst>
              <a:path extrusionOk="0" h="120000" w="5518150">
                <a:moveTo>
                  <a:pt x="0" y="0"/>
                </a:moveTo>
                <a:lnTo>
                  <a:pt x="5518099" y="0"/>
                </a:lnTo>
              </a:path>
            </a:pathLst>
          </a:custGeom>
          <a:noFill/>
          <a:ln cap="flat" cmpd="sng" w="1270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/>
          <p:nvPr/>
        </p:nvSpPr>
        <p:spPr>
          <a:xfrm>
            <a:off x="3513137" y="10115550"/>
            <a:ext cx="533333" cy="239953"/>
          </a:xfrm>
          <a:custGeom>
            <a:rect b="b" l="l" r="r" t="t"/>
            <a:pathLst>
              <a:path extrusionOk="0" h="238759" w="534670">
                <a:moveTo>
                  <a:pt x="494903" y="0"/>
                </a:moveTo>
                <a:lnTo>
                  <a:pt x="33528" y="501"/>
                </a:lnTo>
                <a:lnTo>
                  <a:pt x="2570" y="25716"/>
                </a:lnTo>
                <a:lnTo>
                  <a:pt x="0" y="39791"/>
                </a:lnTo>
                <a:lnTo>
                  <a:pt x="504" y="205299"/>
                </a:lnTo>
                <a:lnTo>
                  <a:pt x="5155" y="218527"/>
                </a:lnTo>
                <a:lnTo>
                  <a:pt x="13898" y="229139"/>
                </a:lnTo>
                <a:lnTo>
                  <a:pt x="25785" y="236195"/>
                </a:lnTo>
                <a:lnTo>
                  <a:pt x="39867" y="238755"/>
                </a:lnTo>
                <a:lnTo>
                  <a:pt x="501158" y="238266"/>
                </a:lnTo>
                <a:lnTo>
                  <a:pt x="514405" y="233649"/>
                </a:lnTo>
                <a:lnTo>
                  <a:pt x="525027" y="224929"/>
                </a:lnTo>
                <a:lnTo>
                  <a:pt x="532088" y="213049"/>
                </a:lnTo>
                <a:lnTo>
                  <a:pt x="534649" y="198955"/>
                </a:lnTo>
                <a:lnTo>
                  <a:pt x="534162" y="33541"/>
                </a:lnTo>
                <a:lnTo>
                  <a:pt x="529558" y="20281"/>
                </a:lnTo>
                <a:lnTo>
                  <a:pt x="520855" y="9642"/>
                </a:lnTo>
                <a:lnTo>
                  <a:pt x="508991" y="2567"/>
                </a:lnTo>
                <a:lnTo>
                  <a:pt x="49490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3513137" y="10117137"/>
            <a:ext cx="39704" cy="238162"/>
          </a:xfrm>
          <a:custGeom>
            <a:rect b="b" l="l" r="r" t="t"/>
            <a:pathLst>
              <a:path extrusionOk="0" h="238759" w="40004">
                <a:moveTo>
                  <a:pt x="39867" y="238254"/>
                </a:moveTo>
                <a:lnTo>
                  <a:pt x="5155" y="218025"/>
                </a:lnTo>
                <a:lnTo>
                  <a:pt x="0" y="39289"/>
                </a:lnTo>
                <a:lnTo>
                  <a:pt x="2570" y="25215"/>
                </a:lnTo>
                <a:lnTo>
                  <a:pt x="9648" y="13349"/>
                </a:lnTo>
                <a:lnTo>
                  <a:pt x="20284" y="4631"/>
                </a:lnTo>
                <a:lnTo>
                  <a:pt x="33528" y="0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4006850" y="10115550"/>
            <a:ext cx="41304" cy="239953"/>
          </a:xfrm>
          <a:custGeom>
            <a:rect b="b" l="l" r="r" t="t"/>
            <a:pathLst>
              <a:path extrusionOk="0" h="238759" w="40004">
                <a:moveTo>
                  <a:pt x="0" y="0"/>
                </a:moveTo>
                <a:lnTo>
                  <a:pt x="34654" y="20281"/>
                </a:lnTo>
                <a:lnTo>
                  <a:pt x="39745" y="198955"/>
                </a:lnTo>
                <a:lnTo>
                  <a:pt x="37184" y="213049"/>
                </a:lnTo>
                <a:lnTo>
                  <a:pt x="30124" y="224929"/>
                </a:lnTo>
                <a:lnTo>
                  <a:pt x="19502" y="233649"/>
                </a:lnTo>
                <a:lnTo>
                  <a:pt x="6254" y="238266"/>
                </a:lnTo>
              </a:path>
            </a:pathLst>
          </a:custGeom>
          <a:noFill/>
          <a:ln cap="flat" cmpd="sng" w="28550">
            <a:solidFill>
              <a:srgbClr val="7F7F7F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 txBox="1"/>
          <p:nvPr/>
        </p:nvSpPr>
        <p:spPr>
          <a:xfrm>
            <a:off x="901700" y="1357312"/>
            <a:ext cx="5753100" cy="11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8035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5280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CONFIGURE THE RELATIONSHIP: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0" marL="12700" marR="0" rtl="0" algn="just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Char char="➢"/>
            </a:pP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Configures  relationships  in  Daily  Expenses  app.  Uses  filter search for Relationships, sets Family Expenses table, writes query for parent linkage.</a:t>
            </a:r>
            <a:endParaRPr/>
          </a:p>
        </p:txBody>
      </p:sp>
      <p:sp>
        <p:nvSpPr>
          <p:cNvPr id="344" name="Google Shape;344;p14"/>
          <p:cNvSpPr txBox="1"/>
          <p:nvPr/>
        </p:nvSpPr>
        <p:spPr>
          <a:xfrm>
            <a:off x="901700" y="3363912"/>
            <a:ext cx="5754600" cy="49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8E00"/>
              </a:buClr>
              <a:buSzPts val="1800"/>
              <a:buFont typeface="Times New Roman"/>
              <a:buNone/>
            </a:pPr>
            <a:r>
              <a:rPr b="1" i="0" lang="en-US" sz="1800" u="sng">
                <a:solidFill>
                  <a:srgbClr val="BE8E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</a:t>
            </a:r>
            <a:endParaRPr b="0" i="0" sz="18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25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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 "Calculating   Family   Expenses"   project   in   ServiceNow successfully streamlined expense tracking and management.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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leveraging ServiceNow's features, it automated calculations, improved data accuracy, and enhanced family financial planning.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r>
              <a:t/>
            </a:r>
            <a:endParaRPr b="0" i="0" sz="15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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demonstrated effective use of technology for practical financial management, yielding efficient and organized expense tracking.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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  automated   workflows   and   real-time   updates,   family members can easily monitor expenses, make informed decisions, and maintain financial discipline.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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   project    showcases    ServiceNow's    versatility    beyond enterprise   IT,   applying   its   capabilities   to   personal   finance management for improved efficiency and control.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chemeClr val="dk1"/>
                </a:solidFill>
                <a:latin typeface="MS Gothic"/>
                <a:ea typeface="MS Gothic"/>
                <a:cs typeface="MS Gothic"/>
                <a:sym typeface="MS Gothic"/>
              </a:rPr>
              <a:t> </a:t>
            </a:r>
            <a:r>
              <a:rPr b="0" i="0" lang="en-US" sz="16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it was a resounding success.</a:t>
            </a:r>
            <a:endParaRPr/>
          </a:p>
        </p:txBody>
      </p:sp>
      <p:sp>
        <p:nvSpPr>
          <p:cNvPr id="345" name="Google Shape;345;p14"/>
          <p:cNvSpPr txBox="1"/>
          <p:nvPr/>
        </p:nvSpPr>
        <p:spPr>
          <a:xfrm>
            <a:off x="1939925" y="9223375"/>
            <a:ext cx="36798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600"/>
              <a:buFont typeface="Times New Roman"/>
              <a:buNone/>
            </a:pPr>
            <a:r>
              <a:rPr b="1" i="0" lang="en-US" sz="3600" u="none">
                <a:solidFill>
                  <a:srgbClr val="CC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THANKING YOU</a:t>
            </a:r>
            <a:endParaRPr/>
          </a:p>
        </p:txBody>
      </p:sp>
      <p:sp>
        <p:nvSpPr>
          <p:cNvPr id="346" name="Google Shape;346;p14"/>
          <p:cNvSpPr/>
          <p:nvPr/>
        </p:nvSpPr>
        <p:spPr>
          <a:xfrm>
            <a:off x="304800" y="30797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3079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7254875" y="311150"/>
            <a:ext cx="0" cy="10072370"/>
          </a:xfrm>
          <a:custGeom>
            <a:rect b="b" l="l" r="r" t="t"/>
            <a:pathLst>
              <a:path extrusionOk="0" h="10072370" w="120000">
                <a:moveTo>
                  <a:pt x="0" y="0"/>
                </a:moveTo>
                <a:lnTo>
                  <a:pt x="0" y="10072115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4"/>
          <p:cNvSpPr/>
          <p:nvPr/>
        </p:nvSpPr>
        <p:spPr>
          <a:xfrm>
            <a:off x="304800" y="10385425"/>
            <a:ext cx="6952615" cy="0"/>
          </a:xfrm>
          <a:custGeom>
            <a:rect b="b" l="l" r="r" t="t"/>
            <a:pathLst>
              <a:path extrusionOk="0" h="120000" w="6952615">
                <a:moveTo>
                  <a:pt x="0" y="0"/>
                </a:moveTo>
                <a:lnTo>
                  <a:pt x="6952487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med" w="med" type="none"/>
            <a:tailEnd len="med" w="med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 txBox="1"/>
          <p:nvPr/>
        </p:nvSpPr>
        <p:spPr>
          <a:xfrm>
            <a:off x="3716337" y="10161587"/>
            <a:ext cx="128700" cy="1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